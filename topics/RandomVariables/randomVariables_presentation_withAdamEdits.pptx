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notesMaster" Target="notesMasters/notesMaster1.xml" /><Relationship Id="rId42" Type="http://schemas.openxmlformats.org/officeDocument/2006/relationships/viewProps" Target="viewProps.xml" /><Relationship Id="rId4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4" Type="http://schemas.openxmlformats.org/officeDocument/2006/relationships/tableStyles" Target="tableStyles.xml" /><Relationship Id="rId43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ellipse represents a random variable - it’s a container for uncertain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the fundamental distinction between discrete and continuous random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how we convert qualitative outcomes into quantitative measurements for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Introduce the formal mathematical definition and notation for random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the key properties of random variables and their mathematical implications.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Introduce the concept that random variables need probability assignments to be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a concrete example of a discrete probability distribution with clear properties.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Introduce continuous distributions and the concept of probability density.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a simple discrete probability mass function for coin flips.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a more complex discrete distribution for customer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a continuous probability density function for temperature.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a continuous probability density function for sales revenue with a skewed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the table representation of the Bernoulli distribution for the sunny day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 the formal mathematical definition of the Bernoulli distribution as it would appear in academic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the graphical representation of the Bernoulli distribution for the sunny day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the random variable as a conceptual node, connecting back to our original informal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Preview how random variables can be connected and influence each other, setting up the next topic on joint distributions.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Transition to interactive learning with Poll Everywhere for hands-on practice with random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two different causal stories using DAGs to illustrate how the same observed correlation can have different underlying causal explanations.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Emphasize the importance of understanding causal relationships rather than just correlations for making informed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32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the probability mass function for a discrete uniform distribution with equal probabilities for each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33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the probability density function for a continuous uniform distribution with constant height over the interval.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the continuous uniform distribution with a highlighted area representing P(0 ≤ X ≤ 1) = 0.5.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35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the Beta distribution with PDF 6x(1-x), which is symmetric and peaks at x = 0.5.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36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the Beta distribution with a shaded area outside the support [0,1], demonstrating that P(1.25 ≤ X ≤ 2) =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37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the binomial distribution with n=35 and p=0.95, which is highly skewed toward the maximum value with probability labels on significant mass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7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12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13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14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15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16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Random Variables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Basic Building Block for Uncertainty Modeling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a Random Variable?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Random Variable (informally):</a:t>
            </a:r>
            <a:r>
              <a:rPr/>
              <a:t> A measurement whose value is subject to uncertainty or randomness.</a:t>
            </a:r>
          </a:p>
        </p:txBody>
      </p:sp>
      <p:pic>
        <p:nvPicPr>
          <p:cNvPr descr="randomVariables_presentation_files\figure-pptx\dot-fig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65300"/>
            <a:ext cx="5105400" cy="125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random variables (informally).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Types of Random Variables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Discrete vs. Continuous</a:t>
            </a:r>
          </a:p>
          <a:p>
            <a:pPr lvl="0" indent="0" marL="0">
              <a:buNone/>
            </a:pPr>
            <a:r>
              <a:rPr b="1"/>
              <a:t>Discrete Random Variables:</a:t>
            </a:r>
            <a:r>
              <a:rPr/>
              <a:t> - Countable outcomes (1, 2, 3, …) - Examples: Number of customers, coin flips</a:t>
            </a:r>
          </a:p>
          <a:p>
            <a:pPr lvl="0" indent="0" marL="0">
              <a:buNone/>
            </a:pPr>
            <a:r>
              <a:rPr b="1"/>
              <a:t>Continuous Random Variables:</a:t>
            </a:r>
            <a:r>
              <a:rPr/>
              <a:t> - Uncountable outcomes (any value in a range) - Examples: Temperature, height, time</a:t>
            </a:r>
          </a:p>
        </p:txBody>
      </p:sp>
      <p:pic>
        <p:nvPicPr>
          <p:cNvPr descr="randomVariables_presentation_files\figure-pptx\dot-figure-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65300"/>
            <a:ext cx="5105400" cy="125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random variables (informally).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Random Variables (Mathematically)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Mapping Real-World Outcomes to Numbers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Real-World 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Numerical 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Sunny 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sunny 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Random Variable:</a:t>
            </a:r>
            <a:r>
              <a:rPr/>
              <a:t> A function that maps each possible outcome to a real number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Mathematical Formalism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Random Variable Definition</a:t>
                </a:r>
              </a:p>
              <a:p>
                <a:pPr lvl="0" indent="0" marL="0">
                  <a:buNone/>
                </a:pPr>
                <a:r>
                  <a:rPr/>
                  <a:t>A </a:t>
                </a:r>
                <a:r>
                  <a:rPr b="1"/>
                  <a:t>random variable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is a function that maps the sample space </a:t>
                </a:r>
                <a14:m>
                  <m:oMath xmlns:m="http://schemas.openxmlformats.org/officeDocument/2006/math">
                    <m:r>
                      <m:t>Ω</m:t>
                    </m:r>
                  </m:oMath>
                </a14:m>
                <a:r>
                  <a:rPr/>
                  <a:t> to the real numbers: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X</m:t>
                      </m:r>
                      <m:r>
                        <m:rPr>
                          <m:sty m:val="p"/>
                        </m:rPr>
                        <m:t>:</m:t>
                      </m:r>
                      <m:r>
                        <m:t>Ω</m:t>
                      </m:r>
                      <m:r>
                        <m:rPr>
                          <m:sty m:val="p"/>
                        </m:rPr>
                        <m:t>→</m:t>
                      </m:r>
                      <m:r>
                        <m:rPr>
                          <m:sty m:val="p"/>
                          <m:scr m:val="double-struck"/>
                        </m:rPr>
                        <m:t>R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Example:</a:t>
                </a:r>
              </a:p>
              <a:p>
                <a:pPr lvl="0"/>
                <a14:m>
                  <m:oMath xmlns:m="http://schemas.openxmlformats.org/officeDocument/2006/math">
                    <m:r>
                      <m:t>Ω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{</m:t>
                    </m:r>
                    <m:r>
                      <m:rPr>
                        <m:nor/>
                        <m:sty m:val="p"/>
                      </m:rPr>
                      <m:t>sunny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nor/>
                        <m:sty m:val="p"/>
                      </m:rPr>
                      <m:t>not sunny</m:t>
                    </m:r>
                    <m:r>
                      <m:rPr>
                        <m:sty m:val="p"/>
                      </m:rPr>
                      <m:t>}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t>X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nor/>
                            <m:sty m:val="p"/>
                          </m:rPr>
                          <m:t>sunny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t>X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nor/>
                            <m:sty m:val="p"/>
                          </m:rPr>
                          <m:t>not sunny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Mathematical Formalism (Continued)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Key Properties</a:t>
                </a:r>
              </a:p>
              <a:p>
                <a:pPr lvl="0" indent="0" marL="0">
                  <a:buNone/>
                </a:pPr>
                <a:r>
                  <a:rPr/>
                  <a:t>A </a:t>
                </a:r>
                <a:r>
                  <a:rPr b="1"/>
                  <a:t>random variable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is a function that maps the sample space </a:t>
                </a:r>
                <a14:m>
                  <m:oMath xmlns:m="http://schemas.openxmlformats.org/officeDocument/2006/math">
                    <m:r>
                      <m:t>Ω</m:t>
                    </m:r>
                  </m:oMath>
                </a14:m>
                <a:r>
                  <a:rPr/>
                  <a:t> to the real numbers: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X</m:t>
                      </m:r>
                      <m:r>
                        <m:rPr>
                          <m:sty m:val="p"/>
                        </m:rPr>
                        <m:t>:</m:t>
                      </m:r>
                      <m:r>
                        <m:t>Ω</m:t>
                      </m:r>
                      <m:r>
                        <m:rPr>
                          <m:sty m:val="p"/>
                        </m:rPr>
                        <m:t>→</m:t>
                      </m:r>
                      <m:r>
                        <m:rPr>
                          <m:sty m:val="p"/>
                          <m:scr m:val="double-struck"/>
                        </m:rPr>
                        <m:t>R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Key Properties:</a:t>
                </a:r>
              </a:p>
              <a:p>
                <a:pPr lvl="0"/>
                <a:r>
                  <a:rPr/>
                  <a:t>Each outcome gets exactly one number</a:t>
                </a:r>
              </a:p>
              <a:p>
                <a:pPr lvl="0"/>
                <a:r>
                  <a:rPr/>
                  <a:t>Different outcomes can map to the same number</a:t>
                </a:r>
              </a:p>
              <a:p>
                <a:pPr lvl="0"/>
                <a:r>
                  <a:rPr/>
                  <a:t>We can now do mathematical analysis on the numbers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Probability Distributions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Spreading Plausibility Over Outcomes</a:t>
                </a:r>
              </a:p>
              <a:p>
                <a:pPr lvl="0" indent="0" marL="0">
                  <a:buNone/>
                </a:pPr>
                <a:r>
                  <a:rPr b="1"/>
                  <a:t>Key Insight:</a:t>
                </a:r>
                <a:r>
                  <a:rPr/>
                  <a:t> Random variables are most useful when we assign </a:t>
                </a:r>
                <a:r>
                  <a:rPr b="1"/>
                  <a:t>probabilities</a:t>
                </a:r>
                <a:r>
                  <a:rPr/>
                  <a:t> to each outcome.</a:t>
                </a:r>
              </a:p>
              <a:p>
                <a:pPr lvl="0" indent="0" marL="0">
                  <a:buNone/>
                </a:pPr>
                <a:r>
                  <a:rPr b="1"/>
                  <a:t>Example - Weather Random Variable:</a:t>
                </a:r>
              </a:p>
              <a:p>
                <a:pPr lvl="0"/>
                <a14:m>
                  <m:oMath xmlns:m="http://schemas.openxmlformats.org/officeDocument/2006/math">
                    <m:r>
                      <m:t>X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nor/>
                            <m:sty m:val="p"/>
                          </m:rPr>
                          <m:t>sunny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 with probability </a:t>
                </a:r>
                <a14:m>
                  <m:oMath xmlns:m="http://schemas.openxmlformats.org/officeDocument/2006/math">
                    <m:r>
                      <m:t>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0.7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t>X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nor/>
                            <m:sty m:val="p"/>
                          </m:rPr>
                          <m:t>not sunny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 with probability </a:t>
                </a:r>
                <a14:m>
                  <m:oMath xmlns:m="http://schemas.openxmlformats.org/officeDocument/2006/math">
                    <m:r>
                      <m:t>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0.3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Total probability must sum to 1: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0.7</m:t>
                    </m:r>
                    <m:r>
                      <m:rPr>
                        <m:sty m:val="p"/>
                      </m:rPr>
                      <m:t>+</m:t>
                    </m:r>
                    <m:r>
                      <m:t>0.3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1.0</m:t>
                    </m:r>
                  </m:oMath>
                </a14:m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Discrete Probability Distribution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Example: Ice Cream Sales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Probability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sales (&gt;100)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sales (≤100)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Properties:</a:t>
                </a:r>
              </a:p>
              <a:p>
                <a:pPr lvl="0"/>
                <a:r>
                  <a:rPr/>
                  <a:t>Each probability ≥ 0</a:t>
                </a:r>
              </a:p>
              <a:p>
                <a:pPr lvl="0"/>
                <a:r>
                  <a:rPr/>
                  <a:t>Probabilities sum to 1: </a:t>
                </a:r>
                <a14:m>
                  <m:oMath xmlns:m="http://schemas.openxmlformats.org/officeDocument/2006/math">
                    <m:r>
                      <m:t>0.6</m:t>
                    </m:r>
                    <m:r>
                      <m:rPr>
                        <m:sty m:val="p"/>
                      </m:rPr>
                      <m:t>+</m:t>
                    </m:r>
                    <m:r>
                      <m:t>0.4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1.0</m:t>
                    </m:r>
                  </m:oMath>
                </a14:m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Continuous Probability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Example: Temperature</a:t>
                </a:r>
              </a:p>
              <a:p>
                <a:pPr lvl="0" indent="0" marL="0">
                  <a:buNone/>
                </a:pPr>
                <a:r>
                  <a:rPr/>
                  <a:t>For continuous random variables, we use </a:t>
                </a:r>
                <a:r>
                  <a:rPr b="1"/>
                  <a:t>probability density functions (PDFs)</a:t>
                </a:r>
                <a:r>
                  <a:rPr/>
                  <a:t> to show how we allocate plausibility:</a:t>
                </a:r>
              </a:p>
              <a:p>
                <a:pPr lvl="0"/>
                <a:r>
                  <a:rPr/>
                  <a:t>Temperature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can be any of the infinite values in a range (e.g., 60°F to 90°F)</a:t>
                </a:r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T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75</m:t>
                        </m:r>
                        <m:r>
                          <m:rPr>
                            <m:sty m:val="p"/>
                          </m:rPr>
                          <m:t>°</m:t>
                        </m:r>
                        <m:r>
                          <m:t>F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m:t>∞</m:t>
                        </m:r>
                      </m:den>
                    </m:f>
                    <m:r>
                      <m:rPr>
                        <m:sty m:val="p"/>
                      </m:rPr>
                      <m:t>≈</m:t>
                    </m:r>
                    <m:r>
                      <m:t>0</m:t>
                    </m:r>
                  </m:oMath>
                </a14:m>
                <a:r>
                  <a:rPr/>
                  <a:t> (exact values have zero probability)</a:t>
                </a:r>
              </a:p>
              <a:p>
                <a:pPr lvl="0"/>
                <a:r>
                  <a:rPr/>
                  <a:t>Instead: </a:t>
                </a:r>
                <a14:m>
                  <m:oMath xmlns:m="http://schemas.openxmlformats.org/officeDocument/2006/math">
                    <m:r>
                      <m:t>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70</m:t>
                        </m:r>
                        <m:r>
                          <m:rPr>
                            <m:sty m:val="p"/>
                          </m:rPr>
                          <m:t>°</m:t>
                        </m:r>
                        <m:r>
                          <m:t>F</m:t>
                        </m:r>
                        <m:r>
                          <m:rPr>
                            <m:sty m:val="p"/>
                          </m:rPr>
                          <m:t>&lt;</m:t>
                        </m:r>
                        <m:r>
                          <m:t>T</m:t>
                        </m:r>
                        <m:r>
                          <m:rPr>
                            <m:sty m:val="p"/>
                          </m:rPr>
                          <m:t>&lt;</m:t>
                        </m:r>
                        <m:r>
                          <m:t>80</m:t>
                        </m:r>
                        <m:r>
                          <m:rPr>
                            <m:sty m:val="p"/>
                          </m:rPr>
                          <m:t>°</m:t>
                        </m:r>
                        <m:r>
                          <m:t>F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0.3</m:t>
                    </m:r>
                  </m:oMath>
                </a14:m>
                <a:r>
                  <a:rPr/>
                  <a:t> (ranges have positive probability)</a:t>
                </a:r>
              </a:p>
              <a:p>
                <a:pPr lvl="0" indent="0" marL="0">
                  <a:buNone/>
                </a:pPr>
                <a:r>
                  <a:rPr b="1"/>
                  <a:t>Key:</a:t>
                </a:r>
                <a:r>
                  <a:rPr/>
                  <a:t> Area under the PDF curve represents probability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Discrete Example: Coin Flips</a:t>
            </a:r>
          </a:p>
        </p:txBody>
      </p:sp>
      <p:pic>
        <p:nvPicPr>
          <p:cNvPr descr="randomVariables_presentation_files/figure-pptx/cell-2-output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828800" y="1193800"/>
            <a:ext cx="547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Discrete Example: Customer Count</a:t>
            </a:r>
          </a:p>
        </p:txBody>
      </p:sp>
      <p:pic>
        <p:nvPicPr>
          <p:cNvPr descr="randomVariables_presentation_files/figure-pptx/cell-3-output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701800" y="1193800"/>
            <a:ext cx="5740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Continuous Example: Temperature</a:t>
            </a:r>
          </a:p>
        </p:txBody>
      </p:sp>
      <p:pic>
        <p:nvPicPr>
          <p:cNvPr descr="randomVariables_presentation_files/figure-pptx/cell-4-output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727200" y="1193800"/>
            <a:ext cx="5702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Continuous Example: Sales Revenue</a:t>
            </a:r>
          </a:p>
        </p:txBody>
      </p:sp>
      <p:pic>
        <p:nvPicPr>
          <p:cNvPr descr="randomVariables_presentation_files/figure-pptx/cell-5-output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625600" y="1193800"/>
            <a:ext cx="5880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Bernoulli Distribution: Table 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Sunny Day 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Probability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Sunny 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sunny 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Properties:</a:t>
                </a:r>
              </a:p>
              <a:p>
                <a:pPr lvl="0"/>
                <a:r>
                  <a:rPr/>
                  <a:t>Binary outcomes (0 or 1)</a:t>
                </a:r>
              </a:p>
              <a:p>
                <a:pPr lvl="0"/>
                <a:r>
                  <a:rPr/>
                  <a:t>Probabilities sum to 1: </a:t>
                </a:r>
                <a14:m>
                  <m:oMath xmlns:m="http://schemas.openxmlformats.org/officeDocument/2006/math">
                    <m:r>
                      <m:t>0.7</m:t>
                    </m:r>
                    <m:r>
                      <m:rPr>
                        <m:sty m:val="p"/>
                      </m:rPr>
                      <m:t>+</m:t>
                    </m:r>
                    <m:r>
                      <m:t>0.3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1.0</m:t>
                    </m:r>
                  </m:oMath>
                </a14:m>
              </a:p>
              <a:p>
                <a:pPr lvl="0"/>
                <a:r>
                  <a:rPr/>
                  <a:t>This is a </a:t>
                </a:r>
                <a:r>
                  <a:rPr b="1"/>
                  <a:t>Bernoulli distribution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Bernoulli Distribution: Mathematical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Academic Paper Style</a:t>
                </a:r>
              </a:p>
              <a:p>
                <a:pPr lvl="0" indent="0" marL="0">
                  <a:buNone/>
                </a:pPr>
                <a:r>
                  <a:rPr/>
                  <a:t>A random variable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follows a </a:t>
                </a:r>
                <a:r>
                  <a:rPr b="1"/>
                  <a:t>Bernoulli distribution</a:t>
                </a:r>
                <a:r>
                  <a:rPr/>
                  <a:t> with parameter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if: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X</m:t>
                      </m:r>
                      <m:r>
                        <m:rPr>
                          <m:sty m:val="p"/>
                        </m:rPr>
                        <m:t>∼</m:t>
                      </m:r>
                      <m:r>
                        <m:rPr>
                          <m:nor/>
                          <m:sty m:val="p"/>
                        </m:rPr>
                        <m:t>Bernoulli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p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p</m:t>
                    </m:r>
                  </m:oMath>
                </a14:m>
                <a:r>
                  <a:rPr/>
                  <a:t> (probability of “success”)</a:t>
                </a:r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p</m:t>
                    </m:r>
                  </m:oMath>
                </a14:m>
                <a:r>
                  <a:rPr/>
                  <a:t> (probability of “failure”)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Bernoulli Distribution: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X</m:t>
                      </m:r>
                      <m:r>
                        <m:rPr>
                          <m:sty m:val="p"/>
                        </m:rPr>
                        <m:t>∼</m:t>
                      </m:r>
                      <m:r>
                        <m:rPr>
                          <m:nor/>
                          <m:sty m:val="p"/>
                        </m:rPr>
                        <m:t>Bernoulli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p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p</m:t>
                    </m:r>
                  </m:oMath>
                </a14:m>
                <a:r>
                  <a:rPr/>
                  <a:t> (probability of “success”)</a:t>
                </a:r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p</m:t>
                    </m:r>
                  </m:oMath>
                </a14:m>
                <a:r>
                  <a:rPr/>
                  <a:t> (probability of “failure”)</a:t>
                </a:r>
              </a:p>
              <a:p>
                <a:pPr lvl="0" indent="0" marL="0">
                  <a:buNone/>
                </a:pPr>
                <a:r>
                  <a:rPr b="1"/>
                  <a:t>For our sunny day example:</a:t>
                </a:r>
              </a:p>
              <a:p>
                <a:pPr lvl="0"/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∼</m:t>
                    </m:r>
                    <m:r>
                      <m:rPr>
                        <m:nor/>
                        <m:sty m:val="p"/>
                      </m:rPr>
                      <m:t>Bernoulli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0.7</m:t>
                        </m:r>
                      </m:e>
                    </m:d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0.7</m:t>
                    </m:r>
                  </m:oMath>
                </a14:m>
                <a:r>
                  <a:rPr/>
                  <a:t> (sunny day)</a:t>
                </a:r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0.3</m:t>
                    </m:r>
                  </m:oMath>
                </a14:m>
                <a:r>
                  <a:rPr/>
                  <a:t> (not sunny day)</a:t>
                </a:r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Bernoulli Distribution: Graph View</a:t>
            </a:r>
          </a:p>
        </p:txBody>
      </p:sp>
      <p:pic>
        <p:nvPicPr>
          <p:cNvPr descr="randomVariables_presentation_files/figure-pptx/cell-6-output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828800" y="1193800"/>
            <a:ext cx="547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Bernoulli Distribution: Node 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X</m:t>
                      </m:r>
                      <m:r>
                        <m:rPr>
                          <m:sty m:val="p"/>
                        </m:rPr>
                        <m:t>∼</m:t>
                      </m:r>
                      <m:r>
                        <m:rPr>
                          <m:nor/>
                          <m:sty m:val="p"/>
                        </m:rPr>
                        <m:t>Bernoulli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0.7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pic>
        <p:nvPicPr>
          <p:cNvPr descr="randomVariables_presentation_files\figure-pptx\dot-figure-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52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Bernoulli random variable as a node.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Joint Distributions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Preview of how random variables relate to each other</a:t>
            </a:r>
          </a:p>
        </p:txBody>
      </p:sp>
      <p:pic>
        <p:nvPicPr>
          <p:cNvPr descr="randomVariables_presentation_files\figure-pptx\dot-figure-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65600" y="203200"/>
            <a:ext cx="39243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Preview of how random variables relate to each other.</a:t>
                </a:r>
              </a:p>
              <a:p>
                <a:pPr lvl="0" indent="0" marL="0">
                  <a:buNone/>
                </a:pPr>
                <a:r>
                  <a:rPr b="1"/>
                  <a:t>Joint Distribution: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y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Example: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nor/>
                              <m:sty m:val="p"/>
                            </m:rPr>
                            <m:t>low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0.25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nor/>
                              <m:sty m:val="p"/>
                            </m:rPr>
                            <m:t>high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0.05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Key Insight:</a:t>
                </a:r>
                <a:r>
                  <a:rPr/>
                  <a:t> We model </a:t>
                </a:r>
                <a:r>
                  <a:rPr b="1"/>
                  <a:t>both</a:t>
                </a:r>
                <a:r>
                  <a:rPr/>
                  <a:t> variables together to capture their relationship.</a:t>
                </a:r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Further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Let’s Practice Together!</a:t>
            </a:r>
          </a:p>
          <a:p>
            <a:pPr lvl="0" indent="0" marL="0">
              <a:buNone/>
            </a:pPr>
            <a:r>
              <a:rPr b="1"/>
              <a:t>📊 Interactive Practice</a:t>
            </a:r>
          </a:p>
          <a:p>
            <a:pPr lvl="0" indent="0" marL="0">
              <a:buNone/>
            </a:pPr>
            <a:r>
              <a:rPr/>
              <a:t>Ready to test your understanding of random variables?</a:t>
            </a:r>
          </a:p>
          <a:p>
            <a:pPr lvl="0" indent="0" marL="0">
              <a:buNone/>
            </a:pPr>
            <a:r>
              <a:rPr i="1"/>
              <a:t>We’ll work through examples together in real-time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Appendix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Causal Relationships: Two Different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Story 1: Direct Causation</a:t>
            </a:r>
          </a:p>
        </p:txBody>
      </p:sp>
      <p:pic>
        <p:nvPicPr>
          <p:cNvPr descr="randomVariables_presentation_files\figure-pptx\dot-figure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Smoking directly causes lung cancer.</a:t>
            </a:r>
          </a:p>
          <a:p>
            <a:pPr lvl="0" indent="0" marL="0">
              <a:buNone/>
            </a:pPr>
            <a:r>
              <a:rPr b="1"/>
              <a:t>Interpretation:</a:t>
            </a:r>
            <a:r>
              <a:rPr/>
              <a:t> Smoking directly causes lung cancer.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Story 2: Common Cause For Smoking and Lung Cancer</a:t>
            </a:r>
          </a:p>
        </p:txBody>
      </p:sp>
      <p:pic>
        <p:nvPicPr>
          <p:cNvPr descr="randomVariables_presentation_files\figure-pptx\dot-figur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16000"/>
            <a:ext cx="5105400" cy="275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Genetics influences both smoking and lung cancer.</a:t>
            </a:r>
          </a:p>
          <a:p>
            <a:pPr lvl="0" indent="0" marL="0">
              <a:buNone/>
            </a:pPr>
            <a:r>
              <a:rPr b="1"/>
              <a:t>Interpretation:</a:t>
            </a:r>
            <a:r>
              <a:rPr/>
              <a:t> Genetics influences both smoking behavior and lung cancer risk.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Insight: Correlation ≠ Causation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Same Data, Different Stories</a:t>
            </a:r>
          </a:p>
          <a:p>
            <a:pPr lvl="0" indent="0" marL="0">
              <a:buNone/>
            </a:pPr>
            <a:r>
              <a:rPr/>
              <a:t>Both DAGs can explain the same observed correlation between smoking and lung cancer, but they have very different implications:</a:t>
            </a:r>
          </a:p>
          <a:p>
            <a:pPr lvl="0" indent="0" marL="0">
              <a:buNone/>
            </a:pPr>
            <a:r>
              <a:rPr b="1"/>
              <a:t>Story 1 (Direct Causation):</a:t>
            </a:r>
            <a:r>
              <a:rPr/>
              <a:t> - Stop smoking → Reduce lung cancer risk - Intervention on smoking directly affects outcome</a:t>
            </a:r>
          </a:p>
          <a:p>
            <a:pPr lvl="0" indent="0" marL="0">
              <a:buNone/>
            </a:pPr>
            <a:r>
              <a:rPr b="1"/>
              <a:t>Story 2 (Common Cause):</a:t>
            </a:r>
            <a:r>
              <a:rPr/>
              <a:t> - Stop smoking → May not reduce lung cancer risk - The genetic predisposition remains unchanged</a:t>
            </a:r>
          </a:p>
          <a:p>
            <a:pPr lvl="0" indent="0" marL="0">
              <a:buNone/>
            </a:pPr>
            <a:r>
              <a:rPr b="1"/>
              <a:t>🎯 Critical Thinking</a:t>
            </a:r>
          </a:p>
          <a:p>
            <a:pPr lvl="0" indent="0" marL="0">
              <a:buNone/>
            </a:pPr>
            <a:r>
              <a:rPr/>
              <a:t>Understanding the underlying causal structure is essential for making effective interventions and policy decisions.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Appendix: Probability Distributions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Discrete Uniform Distribution (0,2)</a:t>
            </a:r>
          </a:p>
        </p:txBody>
      </p:sp>
      <p:pic>
        <p:nvPicPr>
          <p:cNvPr descr="randomVariables_presentation_files/figure-pptx/cell-7-output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863600"/>
            <a:ext cx="5105400" cy="304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Continuous Uniform Distribution (0,2)</a:t>
            </a:r>
          </a:p>
        </p:txBody>
      </p:sp>
      <p:pic>
        <p:nvPicPr>
          <p:cNvPr descr="randomVariables_presentation_files/figure-pptx/cell-8-output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676400" y="1193800"/>
            <a:ext cx="579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Continuous Uniform: Shaded Area P(0 ≤ X ≤ 1)</a:t>
            </a:r>
          </a:p>
        </p:txBody>
      </p:sp>
      <p:pic>
        <p:nvPicPr>
          <p:cNvPr descr="randomVariables_presentation_files/figure-pptx/cell-9-output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828800" y="1193800"/>
            <a:ext cx="547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Beta Distribution: f(x) = 6x(1-x)</a:t>
            </a:r>
          </a:p>
        </p:txBody>
      </p:sp>
      <p:pic>
        <p:nvPicPr>
          <p:cNvPr descr="randomVariables_presentation_files/figure-pptx/cell-10-output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828800" y="1193800"/>
            <a:ext cx="547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Beta Distribution: Shaded Area P(1.25 ≤ X ≤ 2)</a:t>
            </a:r>
          </a:p>
        </p:txBody>
      </p:sp>
      <p:pic>
        <p:nvPicPr>
          <p:cNvPr descr="randomVariables_presentation_files/figure-pptx/cell-11-output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828800" y="1193800"/>
            <a:ext cx="547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Binomial Distribution: n=35, p=0.95</a:t>
            </a:r>
          </a:p>
        </p:txBody>
      </p:sp>
      <p:pic>
        <p:nvPicPr>
          <p:cNvPr descr="randomVariables_presentation_files/figure-pptx/cell-12-output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752600" y="1193800"/>
            <a:ext cx="5626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Variables</dc:title>
  <dc:creator/>
  <cp:keywords/>
  <dcterms:created xsi:type="dcterms:W3CDTF">2025-10-28T17:35:49Z</dcterms:created>
  <dcterms:modified xsi:type="dcterms:W3CDTF">2025-10-28T17:35:49Z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color-scheme">
    <vt:lpwstr>default</vt:lpwstr>
  </property>
  <property fmtid="{D5CDD505-2E9C-101B-9397-08002B2CF9AE}" pid="4" name="execute">
    <vt:lpwstr/>
  </property>
  <property fmtid="{D5CDD505-2E9C-101B-9397-08002B2CF9AE}" pid="5" name="fig-cap-location">
    <vt:lpwstr>bottom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logo">
    <vt:lpwstr/>
  </property>
  <property fmtid="{D5CDD505-2E9C-101B-9397-08002B2CF9AE}" pid="11" name="slide-number">
    <vt:lpwstr>False</vt:lpwstr>
  </property>
  <property fmtid="{D5CDD505-2E9C-101B-9397-08002B2CF9AE}" pid="12" name="subtitle">
    <vt:lpwstr>Basic Building Block for Uncertainty Modeling</vt:lpwstr>
  </property>
  <property fmtid="{D5CDD505-2E9C-101B-9397-08002B2CF9AE}" pid="13" name="tbl-cap-location">
    <vt:lpwstr>top</vt:lpwstr>
  </property>
  <property fmtid="{D5CDD505-2E9C-101B-9397-08002B2CF9AE}" pid="14" name="theme">
    <vt:lpwstr>default</vt:lpwstr>
  </property>
  <property fmtid="{D5CDD505-2E9C-101B-9397-08002B2CF9AE}" pid="15" name="toc-title">
    <vt:lpwstr>Table of contents</vt:lpwstr>
  </property>
</Properties>
</file>